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微软雅黑"/>
                <a:ea typeface="微软雅黑"/>
              </a:rPr>
              <a:t>物理感知层工作流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DEM物理下推 · 机载传感 · 残差特征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1711909" cy="21945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输入数据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SRTM1 DEM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Open-Meteo 粗风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10m / 100m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空速/气压/GPS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7981" y="1371600"/>
            <a:ext cx="1711909" cy="2194560"/>
          </a:xfrm>
          <a:prstGeom prst="roundRect">
            <a:avLst>
              <a:gd name="adj" fmla="val 15000"/>
            </a:avLst>
          </a:prstGeom>
          <a:solidFill>
            <a:srgbClr val="E8F4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地形特征提取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坡度 · 坡向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高差 Δh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粗糙度 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0237.1666666667" y="2468880.0"/>
            <a:ext cx="109728.00000000023" cy="0.0"/>
          </a:xfrm>
          <a:prstGeom prst="line">
            <a:avLst/>
          </a:prstGeom>
          <a:ln w="222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>
            <a:off x="2105101" y="2404872"/>
            <a:ext cx="164592" cy="128016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55922" y="1371600"/>
            <a:ext cx="1711909" cy="2194560"/>
          </a:xfrm>
          <a:prstGeom prst="roundRect">
            <a:avLst>
              <a:gd name="adj" fmla="val 15000"/>
            </a:avLst>
          </a:prstGeom>
          <a:solidFill>
            <a:srgbClr val="E8F4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物理下推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downscale_wind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f_elev · f_slope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对数剪切 · 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18178.333333334" y="2468880.0"/>
            <a:ext cx="109728.0" cy="0.0"/>
          </a:xfrm>
          <a:prstGeom prst="line">
            <a:avLst/>
          </a:prstGeom>
          <a:ln w="222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4073042" y="2404872"/>
            <a:ext cx="164592" cy="128016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1371600"/>
            <a:ext cx="1711909" cy="2194560"/>
          </a:xfrm>
          <a:prstGeom prst="roundRect">
            <a:avLst>
              <a:gd name="adj" fmla="val 15000"/>
            </a:avLst>
          </a:prstGeom>
          <a:solidFill>
            <a:srgbClr val="E8F4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物理基线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WindField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u_phy, v_phy, w_phy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形状 (Z,H,W)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6119.500000001" y="2468880.0"/>
            <a:ext cx="109727.99999999907" cy="0.0"/>
          </a:xfrm>
          <a:prstGeom prst="line">
            <a:avLst/>
          </a:prstGeom>
          <a:ln w="222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6040983" y="2404872"/>
            <a:ext cx="164592" cy="128016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1804" y="1371600"/>
            <a:ext cx="1711909" cy="2194560"/>
          </a:xfrm>
          <a:prstGeom prst="roundRect">
            <a:avLst>
              <a:gd name="adj" fmla="val 15000"/>
            </a:avLst>
          </a:prstGeom>
          <a:solidFill>
            <a:srgbClr val="E8F4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特征构造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62 维 FEATURE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位置·地形·粗风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物理基线·时序窗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4060.666666667" y="2468880.0"/>
            <a:ext cx="109728.0" cy="0.0"/>
          </a:xfrm>
          <a:prstGeom prst="line">
            <a:avLst/>
          </a:prstGeom>
          <a:ln w="222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8008924" y="2404872"/>
            <a:ext cx="164592" cy="128016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59745" y="1371600"/>
            <a:ext cx="1711909" cy="2194560"/>
          </a:xfrm>
          <a:prstGeom prst="roundRect">
            <a:avLst>
              <a:gd name="adj" fmla="val 15000"/>
            </a:avLst>
          </a:prstGeom>
          <a:solidFill>
            <a:srgbClr val="E6F7ED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输出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残差学习输入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Observation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局地风观测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22001.833333334" y="2468880.0"/>
            <a:ext cx="109728.0" cy="0.0"/>
          </a:xfrm>
          <a:prstGeom prst="line">
            <a:avLst/>
          </a:prstGeom>
          <a:ln w="22225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Arrow 18"/>
          <p:cNvSpPr/>
          <p:nvPr/>
        </p:nvSpPr>
        <p:spPr>
          <a:xfrm>
            <a:off x="9976865" y="2404872"/>
            <a:ext cx="164592" cy="128016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11247120" cy="20116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02C"/>
                </a:solidFill>
                <a:latin typeface="微软雅黑"/>
                <a:ea typeface="微软雅黑"/>
              </a:rPr>
              <a:t>关键公式与产物（可编辑说明）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f_elev = clip(1+0.0015·Δh, 0.7, 1.3)　　f_slope = clip(1+0.5·s·cosθ, 0.6, 1.4)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垂直层：对数插值 10m↔100m 剪切；输出米级三维风场基线 + PhysicsDiagnostics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下一步进入认知推理层：XGBoost 残差 Δu,Δv,Δw 与信念更新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  <a:ea typeface="微软雅黑"/>
              </a:rPr>
              <a:t>源码：physics.py / data_ingest.py / pipeline.py　　图3-1 分解 · 物理感知层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微软雅黑"/>
                <a:ea typeface="微软雅黑"/>
              </a:rPr>
              <a:t>认知推理层工作流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残差修正 · 三维信念地图 · 贝叶斯更新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2076236" cy="2286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融合预报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物理基线 u_phy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XGBoost 残差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Δu, Δv, Δw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û = u_phy+Δu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88884" y="1325880"/>
            <a:ext cx="2076236" cy="2286000"/>
          </a:xfrm>
          <a:prstGeom prst="roundRect">
            <a:avLst>
              <a:gd name="adj" fmla="val 15000"/>
            </a:avLst>
          </a:prstGeom>
          <a:solidFill>
            <a:srgbClr val="E8F8F0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先验推进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apply_prediction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过程噪声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模式马尔可夫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Kalman 融合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14564.6" y="2468880.0"/>
            <a:ext cx="146304.0" cy="0.0"/>
          </a:xfrm>
          <a:prstGeom prst="line">
            <a:avLst/>
          </a:prstGeom>
          <a:ln w="22225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>
            <a:off x="2506004" y="2404872"/>
            <a:ext cx="164592" cy="128016"/>
          </a:xfrm>
          <a:prstGeom prst="rightArrow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57729" y="1325880"/>
            <a:ext cx="2076236" cy="2286000"/>
          </a:xfrm>
          <a:prstGeom prst="roundRect">
            <a:avLst>
              <a:gd name="adj" fmla="val 15000"/>
            </a:avLst>
          </a:prstGeom>
          <a:solidFill>
            <a:srgbClr val="E8F8F0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三维信念网格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field_arrays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wind / var / cov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sink·neutral·uplift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83409.2" y="2468880.0"/>
            <a:ext cx="146304.0" cy="0.0"/>
          </a:xfrm>
          <a:prstGeom prst="line">
            <a:avLst/>
          </a:prstGeom>
          <a:ln w="22225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4874849" y="2404872"/>
            <a:ext cx="164592" cy="128016"/>
          </a:xfrm>
          <a:prstGeom prst="rightArrow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26573" y="1325880"/>
            <a:ext cx="2076236" cy="2286000"/>
          </a:xfrm>
          <a:prstGeom prst="roundRect">
            <a:avLst>
              <a:gd name="adj" fmla="val 15000"/>
            </a:avLst>
          </a:prstGeom>
          <a:solidFill>
            <a:srgbClr val="E8F8F0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观测校正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202C"/>
                </a:solidFill>
                <a:latin typeface="微软雅黑"/>
                <a:ea typeface="微软雅黑"/>
              </a:rPr>
              <a:t>update_with_observation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空速+地速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半径 R · 2×2 Kalman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模式混合·平流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52253.800000001" y="2468880.0"/>
            <a:ext cx="146304.0" cy="0.0"/>
          </a:xfrm>
          <a:prstGeom prst="line">
            <a:avLst/>
          </a:prstGeom>
          <a:ln w="22225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7243693" y="2404872"/>
            <a:ext cx="164592" cy="128016"/>
          </a:xfrm>
          <a:prstGeom prst="rightArrow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95418" y="1325880"/>
            <a:ext cx="2076236" cy="22860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905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规划用派生量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uncertainty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safety_penalty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expected_energy_gain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1098.4" y="2468880.0"/>
            <a:ext cx="146304.0" cy="0.0"/>
          </a:xfrm>
          <a:prstGeom prst="line">
            <a:avLst/>
          </a:prstGeom>
          <a:ln w="22225">
            <a:solidFill>
              <a:srgbClr val="2F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9612538" y="2404872"/>
            <a:ext cx="164592" cy="128016"/>
          </a:xfrm>
          <a:prstGeom prst="rightArrow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0" y="3840480"/>
            <a:ext cx="5760720" cy="502920"/>
          </a:xfrm>
          <a:prstGeom prst="roundRect">
            <a:avLst>
              <a:gd name="adj" fmla="val 15000"/>
            </a:avLst>
          </a:prstGeom>
          <a:solidFill>
            <a:srgbClr val="ECFCF5"/>
          </a:solidFill>
          <a:ln w="15875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⟲ 边飞边认知：观测收缩不确定性 → 反馈下一时刻先验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02C"/>
                </a:solidFill>
                <a:latin typeface="微软雅黑"/>
                <a:ea typeface="微软雅黑"/>
              </a:rPr>
              <a:t>关键超参（config.json / BeliefConfig）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process_noise=0.18　observation_noise=0.12　observation_radius=2　advection_gain=0.25　decay=0.04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E = 0.55·max(w,0) − 0.85·max(−w,0) + 1.25·P_up − 0.95·P_sink − 0.28·S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  <a:ea typeface="微软雅黑"/>
              </a:rPr>
              <a:t>源码：belief.py / ml.py / pipeline.py　　图3-1 分解 · 认知推理层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微软雅黑"/>
                <a:ea typeface="微软雅黑"/>
              </a:rPr>
              <a:t>规划决策层工作流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/>
                <a:ea typeface="微软雅黑"/>
              </a:rPr>
              <a:t>进度感知 · Anytime MPC · Dijkstra返航 · 滚动重规划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1920240" cy="214884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输入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信念场 U/S/E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DroneState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Mission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起终点·电池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2286000"/>
            <a:ext cx="54864" cy="0"/>
          </a:xfrm>
          <a:prstGeom prst="line">
            <a:avLst/>
          </a:prstGeom>
          <a:ln w="22225">
            <a:solidFill>
              <a:srgbClr val="C26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2258568" y="2221992"/>
            <a:ext cx="164592" cy="128016"/>
          </a:xfrm>
          <a:prstGeom prst="rightArrow">
            <a:avLst/>
          </a:prstGeom>
          <a:solidFill>
            <a:srgbClr val="C2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41448" y="1234440"/>
            <a:ext cx="2148840" cy="960120"/>
          </a:xfrm>
          <a:prstGeom prst="roundRect">
            <a:avLst>
              <a:gd name="adj" fmla="val 15000"/>
            </a:avLst>
          </a:prstGeom>
          <a:solidFill>
            <a:srgbClr val="FFF4E5"/>
          </a:solidFill>
          <a:ln w="19050">
            <a:solidFill>
              <a:srgbClr val="C2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202C"/>
                </a:solidFill>
                <a:latin typeface="微软雅黑"/>
                <a:ea typeface="微软雅黑"/>
              </a:rPr>
              <a:t>Dijkstra 返航代价图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202C"/>
                </a:solidFill>
                <a:latin typeface="微软雅黑"/>
                <a:ea typeface="微软雅黑"/>
              </a:rPr>
              <a:t>compute_return_cost_map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331720"/>
            <a:ext cx="2148840" cy="960120"/>
          </a:xfrm>
          <a:prstGeom prst="roundRect">
            <a:avLst>
              <a:gd name="adj" fmla="val 15000"/>
            </a:avLst>
          </a:prstGeom>
          <a:solidFill>
            <a:srgbClr val="FFF4E5"/>
          </a:solidFill>
          <a:ln w="19050">
            <a:solidFill>
              <a:srgbClr val="C2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202C"/>
                </a:solidFill>
                <a:latin typeface="微软雅黑"/>
                <a:ea typeface="微软雅黑"/>
              </a:rPr>
              <a:t>能量走廊引导线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AGL / 侧向 corridor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08576" y="2286000"/>
            <a:ext cx="54864" cy="0"/>
          </a:xfrm>
          <a:prstGeom prst="line">
            <a:avLst/>
          </a:prstGeom>
          <a:ln w="22225">
            <a:solidFill>
              <a:srgbClr val="C26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4608576" y="2221992"/>
            <a:ext cx="164592" cy="128016"/>
          </a:xfrm>
          <a:prstGeom prst="rightArrow">
            <a:avLst/>
          </a:prstGeom>
          <a:solidFill>
            <a:srgbClr val="C2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91456" y="1234440"/>
            <a:ext cx="2377440" cy="2148840"/>
          </a:xfrm>
          <a:prstGeom prst="roundRect">
            <a:avLst>
              <a:gd name="adj" fmla="val 15000"/>
            </a:avLst>
          </a:prstGeom>
          <a:solidFill>
            <a:srgbClr val="FFF4E5"/>
          </a:solidFill>
          <a:ln w="19050">
            <a:solidFill>
              <a:srgbClr val="C2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Anytime 束搜索 MPC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horizon=7  beam=28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γ=0.93  rounds=4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进度奖励 + 风险/安全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87184" y="2286000"/>
            <a:ext cx="54864" cy="0"/>
          </a:xfrm>
          <a:prstGeom prst="line">
            <a:avLst/>
          </a:prstGeom>
          <a:ln w="22225">
            <a:solidFill>
              <a:srgbClr val="C26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7187184" y="2221992"/>
            <a:ext cx="164592" cy="128016"/>
          </a:xfrm>
          <a:prstGeom prst="rightArrow">
            <a:avLst/>
          </a:prstGeom>
          <a:solidFill>
            <a:srgbClr val="C2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0064" y="1234440"/>
            <a:ext cx="1920240" cy="2148840"/>
          </a:xfrm>
          <a:prstGeom prst="roundRect">
            <a:avLst>
              <a:gd name="adj" fmla="val 15000"/>
            </a:avLst>
          </a:prstGeom>
          <a:solidFill>
            <a:srgbClr val="FFF4E5"/>
          </a:solidFill>
          <a:ln w="19050">
            <a:solidFill>
              <a:srgbClr val="C2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能量择优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A202C"/>
                </a:solidFill>
                <a:latin typeface="微软雅黑"/>
                <a:ea typeface="微软雅黑"/>
              </a:rPr>
              <a:t>transition_energy_j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MPC vs 直线AGL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vs 走廊引导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8592" y="2286000"/>
            <a:ext cx="54864" cy="0"/>
          </a:xfrm>
          <a:prstGeom prst="line">
            <a:avLst/>
          </a:prstGeom>
          <a:ln w="22225">
            <a:solidFill>
              <a:srgbClr val="C26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9308592" y="2221992"/>
            <a:ext cx="164592" cy="128016"/>
          </a:xfrm>
          <a:prstGeom prst="rightArrow">
            <a:avLst/>
          </a:prstGeom>
          <a:solidFill>
            <a:srgbClr val="C2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91472" y="1234440"/>
            <a:ext cx="1920240" cy="214884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9050">
            <a:solidFill>
              <a:srgbClr val="C2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输出并执行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航点/控制序列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执行首步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1A202C"/>
                </a:solidFill>
                <a:latin typeface="微软雅黑"/>
                <a:ea typeface="微软雅黑"/>
              </a:rPr>
              <a:t>下发飞控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657600"/>
            <a:ext cx="8869680" cy="6400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202C"/>
                </a:solidFill>
                <a:latin typeface="微软雅黑"/>
                <a:ea typeface="微软雅黑"/>
              </a:rPr>
              <a:t>⟲ 滚动重规划 NavigationEngine.step　→　预报 → 信念 → replan → 步进　（replan_interval_steps）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02C"/>
                </a:solidFill>
                <a:latin typeface="微软雅黑"/>
                <a:ea typeface="微软雅黑"/>
              </a:rPr>
              <a:t>关键代价与约束（可编辑）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C = E_trans − R_progress + 22·λ_risk·U + 28·λ_safe·S + C_alt + C_vert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202C"/>
                </a:solidFill>
                <a:latin typeface="微软雅黑"/>
                <a:ea typeface="微软雅黑"/>
              </a:rPr>
              <a:t>risk_weight=1.2　safety_weight=1.5　reserve_energy_ratio=0.22　search_node_budget=9000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微软雅黑"/>
                <a:ea typeface="微软雅黑"/>
              </a:rPr>
              <a:t>源码：planner.py / controller.py / execution.py　　图3-1 分解 · 规划决策层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